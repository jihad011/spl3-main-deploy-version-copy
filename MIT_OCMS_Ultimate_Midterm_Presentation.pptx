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E7FAFF"/>
          </a:solidFill>
          <a:ln w="12700">
            <a:solidFill>
              <a:srgbClr val="E7FA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/mnt/data/docx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685800" cy="685800"/>
          </a:xfrm>
          <a:prstGeom prst="rect">
            <a:avLst/>
          </a:prstGeom>
        </p:spPr>
      </p:pic>
      <p:pic>
        <p:nvPicPr>
          <p:cNvPr id="6" name="Image 1" descr="/mnt/data/docx_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411480"/>
            <a:ext cx="685800" cy="685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74920" y="603504"/>
            <a:ext cx="2423160" cy="310896"/>
          </a:xfrm>
          <a:prstGeom prst="roundRect">
            <a:avLst>
              <a:gd name="adj" fmla="val 38235"/>
            </a:avLst>
          </a:prstGeom>
          <a:solidFill>
            <a:srgbClr val="EFF6FF"/>
          </a:solidFill>
          <a:ln w="8890">
            <a:solidFill>
              <a:srgbClr val="2563EB">
                <a:alpha val="55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74920" y="67665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SE801 · SOFTWARE PROJECT LAB 3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77240" y="20574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 Open Credit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System</a:t>
            </a:r>
            <a:endParaRPr lang="en-US" sz="3100" dirty="0"/>
          </a:p>
        </p:txBody>
      </p:sp>
      <p:sp>
        <p:nvSpPr>
          <p:cNvPr id="10" name="Text 6"/>
          <p:cNvSpPr/>
          <p:nvPr/>
        </p:nvSpPr>
        <p:spPr>
          <a:xfrm>
            <a:off x="804672" y="34290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Rule-Driven Academic Enrollment, Result &amp; Financial Management Platform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04672" y="4160520"/>
            <a:ext cx="2834640" cy="0"/>
          </a:xfrm>
          <a:prstGeom prst="line">
            <a:avLst/>
          </a:prstGeom>
          <a:noFill/>
          <a:ln w="25400">
            <a:solidFill>
              <a:srgbClr val="E8661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74920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074920" y="2212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MD. Jihad Hossain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5093208" y="263347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BSSE Roll No.: 1413  ·  Session: 2021–22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74920" y="3401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Supervised by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74920" y="36758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Dr. Md. Nurul Ahad Tawhid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093208" y="4069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Associate Professor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Institute of Information Technology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of Dhaka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74920" y="5166360"/>
            <a:ext cx="1143000" cy="310896"/>
          </a:xfrm>
          <a:prstGeom prst="roundRect">
            <a:avLst>
              <a:gd name="adj" fmla="val 38235"/>
            </a:avLst>
          </a:prstGeom>
          <a:solidFill>
            <a:srgbClr val="FFF7ED"/>
          </a:solidFill>
          <a:ln w="8890">
            <a:solidFill>
              <a:srgbClr val="E86613">
                <a:alpha val="5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74920" y="5239512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6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02-08-2026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5074920" y="56509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concise, image-backed presentation following the supplied 1407 deck style, final SRS, and UI/model screenshots.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deck is organized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academic problem to rule-driven implementation and visual proof.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8890">
            <a:solidFill>
              <a:srgbClr val="DDE6F1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Open Credit Management System  ·  SE801 SPL3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1874520" cy="2468880"/>
          </a:xfrm>
          <a:prstGeom prst="roundRect">
            <a:avLst>
              <a:gd name="adj" fmla="val 8780"/>
            </a:avLst>
          </a:prstGeom>
          <a:solidFill>
            <a:srgbClr val="F0FDFF"/>
          </a:solidFill>
          <a:ln w="12700">
            <a:solidFill>
              <a:srgbClr val="A5F3F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2402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need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3375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enrollment, seat control, results and dues create ambiguity.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2971800" y="2011680"/>
            <a:ext cx="1874520" cy="246888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22402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2788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requirements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3375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Student, Teacher and Admin workflows with secure RBAC.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212080" y="2011680"/>
            <a:ext cx="1874520" cy="2468880"/>
          </a:xfrm>
          <a:prstGeom prst="roundRect">
            <a:avLst>
              <a:gd name="adj" fmla="val 8780"/>
            </a:avLst>
          </a:prstGeom>
          <a:solidFill>
            <a:srgbClr val="F0FDFF"/>
          </a:solidFill>
          <a:ln w="12700">
            <a:solidFill>
              <a:srgbClr val="A5F3F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22402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40680" y="2788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40680" y="33375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Angular frontend, Spring Boot backend and PostgreSQL persistence.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7452360" y="2011680"/>
            <a:ext cx="1874520" cy="246888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0" y="22402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80960" y="2788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models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0" y="33375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and activity modelling from the SRS.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9692640" y="2011680"/>
            <a:ext cx="1874520" cy="2468880"/>
          </a:xfrm>
          <a:prstGeom prst="roundRect">
            <a:avLst>
              <a:gd name="adj" fmla="val 8780"/>
            </a:avLst>
          </a:prstGeom>
          <a:solidFill>
            <a:srgbClr val="F0FDFF"/>
          </a:solidFill>
          <a:ln w="12700">
            <a:solidFill>
              <a:srgbClr val="A5F3F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21240" y="22402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21240" y="2788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evidence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21240" y="33375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supplied UI screenshots are shown in the exact given order.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academic management gap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OCMS turns open-credit operations into traceable, validated workflows.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8890">
            <a:solidFill>
              <a:srgbClr val="DDE6F1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Open Credit Management System  ·  SE801 SPL3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51206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6F1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99339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039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202996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pain points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487168"/>
            <a:ext cx="46634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Manual semester course selection creates mistakes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Optional seats can be overbooked without strict capacity control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Teacher marks, results and CGPA need consistent academic processing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Retake and semester-gap fees require transparent calculation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Students need one reliable place for courses, results and dues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51206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6F1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9672" y="199339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2039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202996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 OCMS response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487168"/>
            <a:ext cx="46634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Role-secured portal for Student, Teacher and Admin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Rule-driven enrollment and credit validation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Seat-aware course registration and monitoring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Teacher grade-entry workspace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Results, GPA/CGPA and finance visibility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Dashboard evidence for presentation and viva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OBJECTIVES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goals that drive the design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 are aligned with the final SRS: access, rules, results, finance and maintainability.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8890">
            <a:solidFill>
              <a:srgbClr val="DDE6F1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Open Credit Management System  ·  SE801 SPL3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6F1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94767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993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1984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O1 — Secure Access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2441448"/>
            <a:ext cx="2788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authentication and role-based frontend/backend access.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434840" y="17830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6F1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9432" y="194767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993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1984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O2 — Credit Control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2441448"/>
            <a:ext cx="2788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12-credit target and 36-credit programme tracking.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6F1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2752" y="194767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1993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69680" y="1984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O3 — Seat Control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66760" y="2441448"/>
            <a:ext cx="2788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40-seat optional capacity and clear utilization views.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31520" y="374904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9FAFB"/>
          </a:solidFill>
          <a:ln w="12700">
            <a:solidFill>
              <a:srgbClr val="DDE6F1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112" y="391363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3959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3950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O4 — Academic Results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0120" y="4407408"/>
            <a:ext cx="2788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 marks, grades, GPA and CGPA visibility.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4434840" y="374904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9FAFB"/>
          </a:solidFill>
          <a:ln w="12700">
            <a:solidFill>
              <a:srgbClr val="DDE6F1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99432" y="391363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9432" y="3959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950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O5 — Finance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663440" y="4407408"/>
            <a:ext cx="2788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Retake/gap fees, payments and outstanding dues.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8138160" y="374904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9FAFB"/>
          </a:solidFill>
          <a:ln w="12700">
            <a:solidFill>
              <a:srgbClr val="DDE6F1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02752" y="391363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3959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869680" y="3950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O6 — Usability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366760" y="4407408"/>
            <a:ext cx="2788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dashboards and maintainable Angular/Spring structure.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ACTORS &amp; SCOPE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role portals, one validated academic core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Use-case diagrams use Student, Teacher and Admin as principal actors.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8890">
            <a:solidFill>
              <a:srgbClr val="DDE6F1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Open Credit Management System  ·  SE801 SPL3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3246120" cy="3474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2103120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2585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999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3520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Registers courses, views enrollments, results, CGPA, dues and financial status.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51560" y="4709160"/>
            <a:ext cx="1463040" cy="310896"/>
          </a:xfrm>
          <a:prstGeom prst="roundRect">
            <a:avLst>
              <a:gd name="adj" fmla="val 38235"/>
            </a:avLst>
          </a:prstGeom>
          <a:solidFill>
            <a:srgbClr val="DBEAFE"/>
          </a:solidFill>
          <a:ln w="8890">
            <a:solidFill>
              <a:srgbClr val="2563EB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782312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Role-isolated access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26280" y="1828800"/>
            <a:ext cx="3246120" cy="3474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103120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2585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2999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3520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assigned courses, loads roster, enters midterm/final marks and reviews grade data.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4709160"/>
            <a:ext cx="1463040" cy="310896"/>
          </a:xfrm>
          <a:prstGeom prst="roundRect">
            <a:avLst>
              <a:gd name="adj" fmla="val 38235"/>
            </a:avLst>
          </a:prstGeom>
          <a:solidFill>
            <a:srgbClr val="F3E8FF"/>
          </a:solidFill>
          <a:ln w="889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4782312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Role-isolated access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229600" y="1828800"/>
            <a:ext cx="3246120" cy="34747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58200" y="2103120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22585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58200" y="2999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58200" y="3520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Manages students, teachers, courses, semesters, fees and system monitoring.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458200" y="4709160"/>
            <a:ext cx="1463040" cy="310896"/>
          </a:xfrm>
          <a:prstGeom prst="roundRect">
            <a:avLst>
              <a:gd name="adj" fmla="val 38235"/>
            </a:avLst>
          </a:prstGeom>
          <a:solidFill>
            <a:srgbClr val="DCFCE7"/>
          </a:solidFill>
          <a:ln w="8890">
            <a:solidFill>
              <a:srgbClr val="10B981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4782312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Role-isolated access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RULE ENGINE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Rules that make the project more than CRUD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browser can assist, but backend services and PostgreSQL must remain the final authority.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8890">
            <a:solidFill>
              <a:srgbClr val="DDE6F1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Open Credit Management System  ·  SE801 SPL3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3291840" cy="1371600"/>
          </a:xfrm>
          <a:prstGeom prst="roundRect">
            <a:avLst>
              <a:gd name="adj" fmla="val 12000"/>
            </a:avLst>
          </a:prstGeom>
          <a:solidFill>
            <a:srgbClr val="F0FDFF"/>
          </a:solidFill>
          <a:ln w="12700">
            <a:solidFill>
              <a:srgbClr val="A5F3FC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97510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1984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Semester credits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828800" y="235000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exact 12-credit package validation with all-or-nothing persistence.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4480560" y="1737360"/>
            <a:ext cx="32918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197510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77840" y="1984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Programme credits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5577840" y="235000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toward full MIT credit completion.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8229600" y="1737360"/>
            <a:ext cx="3291840" cy="1371600"/>
          </a:xfrm>
          <a:prstGeom prst="roundRect">
            <a:avLst>
              <a:gd name="adj" fmla="val 12000"/>
            </a:avLst>
          </a:prstGeom>
          <a:solidFill>
            <a:srgbClr val="F0FDFF"/>
          </a:solidFill>
          <a:ln w="12700">
            <a:solidFill>
              <a:srgbClr val="A5F3FC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58200" y="197510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326880" y="1984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seat cap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9326880" y="235000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 overflow and show real-time seat pressure.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731520" y="3611880"/>
            <a:ext cx="32918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384962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JWT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28800" y="3858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 access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1828800" y="422452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access token and role-protected portal routing.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480560" y="3611880"/>
            <a:ext cx="3291840" cy="1371600"/>
          </a:xfrm>
          <a:prstGeom prst="roundRect">
            <a:avLst>
              <a:gd name="adj" fmla="val 12000"/>
            </a:avLst>
          </a:prstGeom>
          <a:solidFill>
            <a:srgbClr val="F0FDFF"/>
          </a:solidFill>
          <a:ln w="12700">
            <a:solidFill>
              <a:srgbClr val="A5F3FC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384962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GPA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77840" y="3858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 engine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5577840" y="422452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become grades, GPA, CGPA and academic history.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8229600" y="3611880"/>
            <a:ext cx="32918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58200" y="384962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৳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326880" y="3858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Finance engine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9326880" y="422452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Retake/gap fees, payment records and dues visibility.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Angular → Spring Boot → PostgreSQL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production-minded modular monolith that keeps business rules on the server.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8890">
            <a:solidFill>
              <a:srgbClr val="DDE6F1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Open Credit Management System  ·  SE801 SPL3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80760" y="2148840"/>
            <a:ext cx="0" cy="45720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0760" y="3429000"/>
            <a:ext cx="0" cy="45720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88920" y="4754880"/>
            <a:ext cx="6583680" cy="0"/>
          </a:xfrm>
          <a:prstGeom prst="line">
            <a:avLst/>
          </a:prstGeom>
          <a:noFill/>
          <a:ln w="15240">
            <a:solidFill>
              <a:srgbClr val="DDE6F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40280" y="1691640"/>
            <a:ext cx="7680960" cy="868680"/>
          </a:xfrm>
          <a:prstGeom prst="roundRect">
            <a:avLst>
              <a:gd name="adj" fmla="val 12632"/>
            </a:avLst>
          </a:prstGeom>
          <a:solidFill>
            <a:srgbClr val="ECFEFF"/>
          </a:solidFill>
          <a:ln w="12700">
            <a:solidFill>
              <a:srgbClr val="06B6D4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4872" y="185623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1901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1892808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350008"/>
            <a:ext cx="7223760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Angular 18 + TypeScript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dashboards · guards · forms · UI state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40280" y="2971800"/>
            <a:ext cx="7680960" cy="868680"/>
          </a:xfrm>
          <a:prstGeom prst="roundRect">
            <a:avLst>
              <a:gd name="adj" fmla="val 12632"/>
            </a:avLst>
          </a:prstGeom>
          <a:solidFill>
            <a:srgbClr val="EFF6FF"/>
          </a:solidFill>
          <a:ln w="12700">
            <a:solidFill>
              <a:srgbClr val="2563EB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04872" y="313639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3182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71800" y="3172968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0" y="3630168"/>
            <a:ext cx="7223760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Boot 3.3 + Java 21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 · services · validation · JWT/RBAC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40280" y="4251960"/>
            <a:ext cx="7680960" cy="868680"/>
          </a:xfrm>
          <a:prstGeom prst="roundRect">
            <a:avLst>
              <a:gd name="adj" fmla="val 12632"/>
            </a:avLst>
          </a:prstGeom>
          <a:solidFill>
            <a:srgbClr val="F0FDF4"/>
          </a:solidFill>
          <a:ln w="12700">
            <a:solidFill>
              <a:srgbClr val="10B981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04872" y="441655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04872" y="44622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71800" y="4453128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68880" y="4910328"/>
            <a:ext cx="7223760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16 + Flyway V1–V7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Entities · constraints · migrations · reports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5166360"/>
            <a:ext cx="32004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DE6F1">
                <a:alpha val="9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3675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0120" y="5824728"/>
            <a:ext cx="2743200" cy="-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Enrollment · Results · Dues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480560" y="5166360"/>
            <a:ext cx="32004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DE6F1">
                <a:alpha val="9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53675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09160" y="5824728"/>
            <a:ext cx="2743200" cy="-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Courses · Marks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229600" y="5166360"/>
            <a:ext cx="32004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DE6F1">
                <a:alpha val="9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53675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58200" y="5824728"/>
            <a:ext cx="2743200" cy="-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· Finance Control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&amp; TRACEABILITY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evaluation can verify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SRS connects features to actors, APIs, data, tests and presentation evidence.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8890">
            <a:solidFill>
              <a:srgbClr val="DDE6F1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Open Credit Management System  ·  SE801 SPL3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DE6F1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99339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039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20299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Functional core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487168"/>
            <a:ext cx="30175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Authentication and RBAC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Course registration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Teacher marks entry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Results / CGPA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 and dues management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Admin monitoring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34840" y="182880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DE6F1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9432" y="199339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2039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20299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attributes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2487168"/>
            <a:ext cx="30175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Security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Accuracy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Transaction safety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Maintainability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Usability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Testability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182880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DE6F1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2752" y="199339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2039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69680" y="20299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shown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66760" y="2487168"/>
            <a:ext cx="30175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UI screenshots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Use-case diagram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Activity diagram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Architecture view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Testing plan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Timeline and next tasks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9019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EC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Screens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System Models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39776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following slides keep every supplied image in the exact uploaded order. Each image is placed inside a dedicated frame and fitted without stretching or overflowing the slide.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4864608"/>
            <a:ext cx="2103120" cy="310896"/>
          </a:xfrm>
          <a:prstGeom prst="roundRect">
            <a:avLst>
              <a:gd name="adj" fmla="val 38235"/>
            </a:avLst>
          </a:prstGeom>
          <a:solidFill>
            <a:srgbClr val="FFF7ED"/>
          </a:solidFill>
          <a:ln w="8890">
            <a:solidFill>
              <a:srgbClr val="E86613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4937760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6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dedicated image slides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  ·  IMAGE 01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Course Management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784080" y="338328"/>
            <a:ext cx="1783080" cy="310896"/>
          </a:xfrm>
          <a:prstGeom prst="roundRect">
            <a:avLst>
              <a:gd name="adj" fmla="val 38235"/>
            </a:avLst>
          </a:prstGeom>
          <a:solidFill>
            <a:srgbClr val="DCFCE7"/>
          </a:solidFill>
          <a:ln w="8890">
            <a:solidFill>
              <a:srgbClr val="10B981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4114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PANEL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and manage offerings, seat counts, teacher assignment and active/deactivate state.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84280" cy="532180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add-course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52681"/>
            <a:ext cx="11146536" cy="48475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  ·  IMAGE 02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Operations Dashboard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784080" y="338328"/>
            <a:ext cx="1783080" cy="310896"/>
          </a:xfrm>
          <a:prstGeom prst="roundRect">
            <a:avLst>
              <a:gd name="adj" fmla="val 38235"/>
            </a:avLst>
          </a:prstGeom>
          <a:solidFill>
            <a:srgbClr val="DCFCE7"/>
          </a:solidFill>
          <a:ln w="8890">
            <a:solidFill>
              <a:srgbClr val="10B981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4114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PANEL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students, teachers, courses, enrollment status, quick actions and activity feed.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3886200" cy="516636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17720" y="1170432"/>
            <a:ext cx="708660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0" descr="/mnt/data/Admin(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411288"/>
            <a:ext cx="3666744" cy="4684649"/>
          </a:xfrm>
          <a:prstGeom prst="rect">
            <a:avLst/>
          </a:prstGeom>
        </p:spPr>
      </p:pic>
      <p:pic>
        <p:nvPicPr>
          <p:cNvPr id="10" name="Image 1" descr="/mnt/data/Admin(2).png">    </p:cNvPr>
          <p:cNvPicPr>
            <a:picLocks noChangeAspect="1"/>
          </p:cNvPicPr>
          <p:nvPr/>
        </p:nvPicPr>
        <p:blipFill>
          <a:blip r:embed="rId2"/>
          <a:srcRect l="0" r="2456" t="0" b="45000"/>
          <a:stretch/>
        </p:blipFill>
        <p:spPr>
          <a:xfrm>
            <a:off x="4727448" y="1280160"/>
            <a:ext cx="6867144" cy="4946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  ·  IMAGE 03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Management Directory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784080" y="338328"/>
            <a:ext cx="1783080" cy="310896"/>
          </a:xfrm>
          <a:prstGeom prst="roundRect">
            <a:avLst>
              <a:gd name="adj" fmla="val 38235"/>
            </a:avLst>
          </a:prstGeom>
          <a:solidFill>
            <a:srgbClr val="DCFCE7"/>
          </a:solidFill>
          <a:ln w="8890">
            <a:solidFill>
              <a:srgbClr val="10B981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4114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PANEL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Searchable student list with roll, registration, batch, phone and account status.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3886200" cy="516636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17720" y="1170432"/>
            <a:ext cx="708660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0" descr="/mnt/data/admin-students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483" y="1280160"/>
            <a:ext cx="3413074" cy="4946904"/>
          </a:xfrm>
          <a:prstGeom prst="rect">
            <a:avLst/>
          </a:prstGeom>
        </p:spPr>
      </p:pic>
      <p:pic>
        <p:nvPicPr>
          <p:cNvPr id="10" name="Image 1" descr="/mnt/data/admin-students(1).png">    </p:cNvPr>
          <p:cNvPicPr>
            <a:picLocks noChangeAspect="1"/>
          </p:cNvPicPr>
          <p:nvPr/>
        </p:nvPicPr>
        <p:blipFill>
          <a:blip r:embed="rId2"/>
          <a:srcRect l="0" r="-10661" t="0" b="45000"/>
          <a:stretch/>
        </p:blipFill>
        <p:spPr>
          <a:xfrm>
            <a:off x="4727448" y="1280160"/>
            <a:ext cx="6867144" cy="4946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  ·  IMAGE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Course Registration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784080" y="338328"/>
            <a:ext cx="1783080" cy="310896"/>
          </a:xfrm>
          <a:prstGeom prst="roundRect">
            <a:avLst>
              <a:gd name="adj" fmla="val 38235"/>
            </a:avLst>
          </a:prstGeom>
          <a:solidFill>
            <a:srgbClr val="DBEAFE"/>
          </a:solidFill>
          <a:ln w="8890">
            <a:solidFill>
              <a:srgbClr val="2563EB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4114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PORTAL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selection workspace with filter, seat status, and blocked state for full courses.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84280" cy="532180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course-registration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952" y="1234440"/>
            <a:ext cx="10633336" cy="5084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  ·  IMAGE 05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Faculty Management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784080" y="338328"/>
            <a:ext cx="1783080" cy="310896"/>
          </a:xfrm>
          <a:prstGeom prst="roundRect">
            <a:avLst>
              <a:gd name="adj" fmla="val 38235"/>
            </a:avLst>
          </a:prstGeom>
          <a:solidFill>
            <a:srgbClr val="DCFCE7"/>
          </a:solidFill>
          <a:ln w="8890">
            <a:solidFill>
              <a:srgbClr val="10B981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4114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PANEL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 account listing and status management from the administrator workspace.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84280" cy="532180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faculty-add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78806"/>
            <a:ext cx="11146536" cy="479533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  ·  IMAGE 06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Fee Management Hub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784080" y="338328"/>
            <a:ext cx="1783080" cy="310896"/>
          </a:xfrm>
          <a:prstGeom prst="roundRect">
            <a:avLst>
              <a:gd name="adj" fmla="val 38235"/>
            </a:avLst>
          </a:prstGeom>
          <a:solidFill>
            <a:srgbClr val="DCFCE7"/>
          </a:solidFill>
          <a:ln w="8890">
            <a:solidFill>
              <a:srgbClr val="10B981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4114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PANEL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 workflow routes from student selection to fee creation, update and payment actions.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84280" cy="532180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fee-managemen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09140"/>
            <a:ext cx="11146536" cy="49346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  ·  IMAGE 07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Fees &amp; Dues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784080" y="338328"/>
            <a:ext cx="1783080" cy="310896"/>
          </a:xfrm>
          <a:prstGeom prst="roundRect">
            <a:avLst>
              <a:gd name="adj" fmla="val 38235"/>
            </a:avLst>
          </a:prstGeom>
          <a:solidFill>
            <a:srgbClr val="DBEAFE"/>
          </a:solidFill>
          <a:ln w="8890">
            <a:solidFill>
              <a:srgbClr val="2563EB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4114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PORTAL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Student-facing finance view that displays fee history and outstanding dues status.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84280" cy="532180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fees and dues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78806"/>
            <a:ext cx="11146536" cy="479533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  ·  IMAGE 08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 Grade Entry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784080" y="338328"/>
            <a:ext cx="1783080" cy="310896"/>
          </a:xfrm>
          <a:prstGeom prst="roundRect">
            <a:avLst>
              <a:gd name="adj" fmla="val 38235"/>
            </a:avLst>
          </a:prstGeom>
          <a:solidFill>
            <a:srgbClr val="E0F2FE"/>
          </a:solidFill>
          <a:ln w="889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4114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 PORTAL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workspace with midterm, final, total, preview and saved grade evidence.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84280" cy="532180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grade-entry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02824"/>
            <a:ext cx="11146536" cy="41472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  ·  IMAGE 09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 Login Experience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784080" y="338328"/>
            <a:ext cx="1783080" cy="310896"/>
          </a:xfrm>
          <a:prstGeom prst="roundRect">
            <a:avLst>
              <a:gd name="adj" fmla="val 38235"/>
            </a:avLst>
          </a:prstGeom>
          <a:solidFill>
            <a:srgbClr val="E0F2FE"/>
          </a:solidFill>
          <a:ln w="8890">
            <a:solidFill>
              <a:srgbClr val="E86613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4114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6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role-based entrance with validation, academic system message and secure access intent.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84280" cy="532180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HomePage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532" y="1234440"/>
            <a:ext cx="10774175" cy="5084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  ·  IMAGE 10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My Course(s)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784080" y="338328"/>
            <a:ext cx="1783080" cy="310896"/>
          </a:xfrm>
          <a:prstGeom prst="roundRect">
            <a:avLst>
              <a:gd name="adj" fmla="val 38235"/>
            </a:avLst>
          </a:prstGeom>
          <a:solidFill>
            <a:srgbClr val="DBEAFE"/>
          </a:solidFill>
          <a:ln w="8890">
            <a:solidFill>
              <a:srgbClr val="2563EB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4114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PORTAL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Registered courses, active/completed states, credit totals and drop-course action.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84280" cy="532180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my-courses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2080" y="1234440"/>
            <a:ext cx="8343079" cy="5084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  ·  IMAGE 11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Academic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784080" y="338328"/>
            <a:ext cx="1783080" cy="310896"/>
          </a:xfrm>
          <a:prstGeom prst="roundRect">
            <a:avLst>
              <a:gd name="adj" fmla="val 38235"/>
            </a:avLst>
          </a:prstGeom>
          <a:solidFill>
            <a:srgbClr val="DBEAFE"/>
          </a:solidFill>
          <a:ln w="8890">
            <a:solidFill>
              <a:srgbClr val="2563EB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4114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PORTAL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CGPA, graded courses, completed credits and semester-wise result table.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84280" cy="532180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result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9430" y="1234440"/>
            <a:ext cx="7328381" cy="5084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  ·  IMAGE 12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Semester Management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784080" y="338328"/>
            <a:ext cx="1783080" cy="310896"/>
          </a:xfrm>
          <a:prstGeom prst="roundRect">
            <a:avLst>
              <a:gd name="adj" fmla="val 38235"/>
            </a:avLst>
          </a:prstGeom>
          <a:solidFill>
            <a:srgbClr val="DCFCE7"/>
          </a:solidFill>
          <a:ln w="8890">
            <a:solidFill>
              <a:srgbClr val="10B981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4114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PANEL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Enrollment windows, active semester status, period definitions and activation controls.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84280" cy="532180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semester-managemet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81" y="1234440"/>
            <a:ext cx="10232078" cy="5084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  ·  IMAGE 13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Dashboard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784080" y="338328"/>
            <a:ext cx="1783080" cy="310896"/>
          </a:xfrm>
          <a:prstGeom prst="roundRect">
            <a:avLst>
              <a:gd name="adj" fmla="val 38235"/>
            </a:avLst>
          </a:prstGeom>
          <a:solidFill>
            <a:srgbClr val="DBEAFE"/>
          </a:solidFill>
          <a:ln w="8890">
            <a:solidFill>
              <a:srgbClr val="2563EB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4114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PORTAL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CGPA card, credit progress, dues, trend, simulator and current semester courses.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3886200" cy="516636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17720" y="1170432"/>
            <a:ext cx="708660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0" descr="/mnt/data/Student(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509293"/>
            <a:ext cx="3666744" cy="4488638"/>
          </a:xfrm>
          <a:prstGeom prst="rect">
            <a:avLst/>
          </a:prstGeom>
        </p:spPr>
      </p:pic>
      <p:pic>
        <p:nvPicPr>
          <p:cNvPr id="10" name="Image 1" descr="/mnt/data/Student(2).png">    </p:cNvPr>
          <p:cNvPicPr>
            <a:picLocks noChangeAspect="1"/>
          </p:cNvPicPr>
          <p:nvPr/>
        </p:nvPicPr>
        <p:blipFill>
          <a:blip r:embed="rId2"/>
          <a:srcRect l="0" r="6537" t="0" b="45000"/>
          <a:stretch/>
        </p:blipFill>
        <p:spPr>
          <a:xfrm>
            <a:off x="4727448" y="1280160"/>
            <a:ext cx="6867144" cy="4946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  ·  IMAGE 14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 Dashboard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784080" y="338328"/>
            <a:ext cx="1783080" cy="310896"/>
          </a:xfrm>
          <a:prstGeom prst="roundRect">
            <a:avLst>
              <a:gd name="adj" fmla="val 38235"/>
            </a:avLst>
          </a:prstGeom>
          <a:solidFill>
            <a:srgbClr val="E0F2FE"/>
          </a:solidFill>
          <a:ln w="889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4114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 PORTAL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Enrollment statistics, assigned course cards, seat pressure and grade-entry entrypoints.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3886200" cy="516636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17720" y="1170432"/>
            <a:ext cx="708660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0" descr="/mnt/data/Teacher(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294553"/>
            <a:ext cx="3666744" cy="2918117"/>
          </a:xfrm>
          <a:prstGeom prst="rect">
            <a:avLst/>
          </a:prstGeom>
        </p:spPr>
      </p:pic>
      <p:pic>
        <p:nvPicPr>
          <p:cNvPr id="10" name="Image 1" descr="/mnt/data/Teacher(2).png">    </p:cNvPr>
          <p:cNvPicPr>
            <a:picLocks noChangeAspect="1"/>
          </p:cNvPicPr>
          <p:nvPr/>
        </p:nvPicPr>
        <p:blipFill>
          <a:blip r:embed="rId2"/>
          <a:srcRect l="0" r="39239" t="0" b="45000"/>
          <a:stretch/>
        </p:blipFill>
        <p:spPr>
          <a:xfrm>
            <a:off x="4727448" y="1280160"/>
            <a:ext cx="6867144" cy="4946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  ·  IMAGE 15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Diagram — Authentication &amp; Role Routing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784080" y="338328"/>
            <a:ext cx="1783080" cy="310896"/>
          </a:xfrm>
          <a:prstGeom prst="roundRect">
            <a:avLst>
              <a:gd name="adj" fmla="val 38235"/>
            </a:avLst>
          </a:prstGeom>
          <a:solidFill>
            <a:srgbClr val="E0F2FE"/>
          </a:solidFill>
          <a:ln w="8890">
            <a:solidFill>
              <a:srgbClr val="06B6D4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4114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DIAGRAM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Student, Teacher or Admin submits credentials; the system validates and routes to the correct portal.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84280" cy="532180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image(1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1379" y="1234440"/>
            <a:ext cx="5104482" cy="5084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  ·  IMAGE 16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Diagram — Full Actor-Based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784080" y="338328"/>
            <a:ext cx="1783080" cy="310896"/>
          </a:xfrm>
          <a:prstGeom prst="roundRect">
            <a:avLst>
              <a:gd name="adj" fmla="val 38235"/>
            </a:avLst>
          </a:prstGeom>
          <a:solidFill>
            <a:srgbClr val="E0F2FE"/>
          </a:solidFill>
          <a:ln w="8890">
            <a:solidFill>
              <a:srgbClr val="06B6D4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4114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DIAGRAM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Student, Teacher and Admin services share one authenticated platform and validated academic core.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84280" cy="532180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image(1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1718" y="1234440"/>
            <a:ext cx="7763805" cy="5084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STATUS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build + priority corrections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is worded safely for viva: separate what is shown from what remains to be hardened.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8890">
            <a:solidFill>
              <a:srgbClr val="DDE6F1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Open Credit Management System  ·  SE801 SPL3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6F1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99339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039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20299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Implemented / Visible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2487168"/>
            <a:ext cx="29260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Role portals and dashboards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 course views and registration 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Teacher grade-entry 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Admin academic screens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Results and dues pages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Angular–Spring Boot–PostgreSQL baseline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18288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6F1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9432" y="199339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2039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20299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Implemented with limits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663440" y="2487168"/>
            <a:ext cx="29260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Course-by-course enrollment in baseline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≤ 12-credit validation vs exact package target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Seat control and result lifecycle require formal hardening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Payment verification needs audit-grade workflow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18288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6F1">
                <a:alpha val="9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2752" y="199339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 w="6350">
            <a:solidFill>
              <a:srgbClr val="DDE6F1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2039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69680" y="20299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engineering focus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66760" y="2487168"/>
            <a:ext cx="29260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Semester-specific CourseOffering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Atomic exact-12 registration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Concurrency-safe last-seat control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Derived retake/gap fees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Explicit result publication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Verified payment allocation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STORYLINE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present the system confidently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role-by-role demonstration is stronger than jumping between random screens.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8890">
            <a:solidFill>
              <a:srgbClr val="DDE6F1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Open Credit Management System  ·  SE801 SPL3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154680" cy="1280160"/>
          </a:xfrm>
          <a:prstGeom prst="roundRect">
            <a:avLst>
              <a:gd name="adj" fmla="val 12143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0391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20391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645920" y="24048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validation and role-based entry.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572000" y="1783080"/>
            <a:ext cx="3154680" cy="1280160"/>
          </a:xfrm>
          <a:prstGeom prst="roundRect">
            <a:avLst>
              <a:gd name="adj" fmla="val 12143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0391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49240" y="20391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49240" y="24048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Create/monitor students, teachers, courses, semesters and fees.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275320" y="1783080"/>
            <a:ext cx="3154680" cy="1280160"/>
          </a:xfrm>
          <a:prstGeom prst="roundRect">
            <a:avLst>
              <a:gd name="adj" fmla="val 12143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58200" y="20391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52560" y="20391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052560" y="24048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dashboard, register courses, view courses, results and dues.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68680" y="3657600"/>
            <a:ext cx="3154680" cy="1280160"/>
          </a:xfrm>
          <a:prstGeom prst="roundRect">
            <a:avLst>
              <a:gd name="adj" fmla="val 12143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39136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45920" y="3913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645920" y="427939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assigned courses and enter midterm/final marks.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572000" y="3657600"/>
            <a:ext cx="3154680" cy="1280160"/>
          </a:xfrm>
          <a:prstGeom prst="roundRect">
            <a:avLst>
              <a:gd name="adj" fmla="val 12143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9136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49240" y="3913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 models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349240" y="427939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use-case and activity diagrams to connect UI to SRS.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8275320" y="3657600"/>
            <a:ext cx="3154680" cy="1280160"/>
          </a:xfrm>
          <a:prstGeom prst="roundRect">
            <a:avLst>
              <a:gd name="adj" fmla="val 12143"/>
            </a:avLst>
          </a:prstGeom>
          <a:solidFill>
            <a:srgbClr val="FFFFFF"/>
          </a:solidFill>
          <a:ln w="12700">
            <a:solidFill>
              <a:srgbClr val="DDE6F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58200" y="39136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052560" y="3913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 honestly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052560" y="427939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Mention current limitations and next implementation priorities.</a:t>
            </a:r>
            <a:endParaRPr lang="en-US" sz="8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pic>
        <p:nvPicPr>
          <p:cNvPr id="3" name="Image 0" descr="/mnt/data/docx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02920"/>
            <a:ext cx="685800" cy="685800"/>
          </a:xfrm>
          <a:prstGeom prst="rect">
            <a:avLst/>
          </a:prstGeom>
        </p:spPr>
      </p:pic>
      <p:pic>
        <p:nvPicPr>
          <p:cNvPr id="4" name="Image 1" descr="/mnt/data/docx_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502920"/>
            <a:ext cx="685800" cy="685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22402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713232" y="3035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Open Credit Management System  ·  SE801 SPL3 Midterm Presentation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13232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DEC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welcome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13232" y="4480560"/>
            <a:ext cx="3840480" cy="0"/>
          </a:xfrm>
          <a:prstGeom prst="line">
            <a:avLst/>
          </a:prstGeom>
          <a:noFill/>
          <a:ln w="25400">
            <a:solidFill>
              <a:srgbClr val="E8661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by: MD. Jihad Hossain  ·  BSSE Roll No. 1413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Institute of Information Technology, University of Dhaka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 Open Credit Management System</dc:title>
  <dc:subject>MIT Open Credit Management System — SE801 SPL3 Midterm Presentation</dc:subject>
  <dc:creator>Md. Jihad Hossain</dc:creator>
  <cp:lastModifiedBy>Md. Jihad Hossain</cp:lastModifiedBy>
  <cp:revision>1</cp:revision>
  <dcterms:created xsi:type="dcterms:W3CDTF">2026-08-01T16:19:58Z</dcterms:created>
  <dcterms:modified xsi:type="dcterms:W3CDTF">2026-08-01T16:19:58Z</dcterms:modified>
</cp:coreProperties>
</file>